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 TRAINING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Giới thiệu về angular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Giới thiệu Angular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105015" cy="4526280"/>
          </a:xfrm>
        </p:spPr>
        <p:txBody>
          <a:bodyPr/>
          <a:p>
            <a:r>
              <a:rPr lang="en-US" altLang="en-US" b="1"/>
              <a:t>Angular: Framework mạnh mẽ cho phát triển ứng dụng web front-end hiện </a:t>
            </a:r>
            <a:r>
              <a:rPr lang="en-US" altLang="en-US" b="1"/>
              <a:t>đ</a:t>
            </a:r>
            <a:r>
              <a:rPr lang="en-US" altLang="en-US" b="1"/>
              <a:t>ại</a:t>
            </a:r>
            <a:endParaRPr lang="en-US" altLang="en-US" b="1"/>
          </a:p>
          <a:p>
            <a:endParaRPr lang="en-US" altLang="en-US" b="1"/>
          </a:p>
          <a:p>
            <a:r>
              <a:rPr lang="en-US" altLang="en-US" sz="2000"/>
              <a:t>Angular là một framework phát triển ứng dụng web front-end mạnh mẽ </a:t>
            </a:r>
            <a:r>
              <a:rPr lang="en-US" altLang="en-US" sz="2000"/>
              <a:t>đư</a:t>
            </a:r>
            <a:r>
              <a:rPr lang="en-US" altLang="en-US" sz="2000"/>
              <a:t>ợc Google phát triển. Nó giúp các lập trình viên xây dựng ứng dụng một cách dễ dàng hơn với cấu trúc r</a:t>
            </a:r>
            <a:r>
              <a:rPr lang="en-US" altLang="en-US" sz="2000"/>
              <a:t>õ</a:t>
            </a:r>
            <a:r>
              <a:rPr lang="en-US" altLang="en-US" sz="2000"/>
              <a:t> ràng, hỗ trợ modularity và khả n</a:t>
            </a:r>
            <a:r>
              <a:rPr lang="en-US" altLang="en-US" sz="2000"/>
              <a:t>ă</a:t>
            </a:r>
            <a:r>
              <a:rPr lang="en-US" altLang="en-US" sz="2000"/>
              <a:t>ng mở rộng. Angular c</a:t>
            </a:r>
            <a:r>
              <a:rPr lang="en-US" altLang="en-US" sz="2000"/>
              <a:t>ũ</a:t>
            </a:r>
            <a:r>
              <a:rPr lang="en-US" altLang="en-US" sz="2000"/>
              <a:t>ng nổi bật với tính n</a:t>
            </a:r>
            <a:r>
              <a:rPr lang="en-US" altLang="en-US" sz="2000"/>
              <a:t>ă</a:t>
            </a:r>
            <a:r>
              <a:rPr lang="en-US" altLang="en-US" sz="2000"/>
              <a:t>ng two-way data binding, giúp việc </a:t>
            </a:r>
            <a:r>
              <a:rPr lang="en-US" altLang="en-US" sz="2000"/>
              <a:t>đ</a:t>
            </a:r>
            <a:r>
              <a:rPr lang="en-US" altLang="en-US" sz="2000"/>
              <a:t>ồng bộ hóa dữ liệu giữa model và view trở nên </a:t>
            </a:r>
            <a:r>
              <a:rPr lang="en-US" altLang="en-US" sz="2000"/>
              <a:t>đ</a:t>
            </a:r>
            <a:r>
              <a:rPr lang="en-US" altLang="en-US" sz="2000"/>
              <a:t>ơn giản hơn.</a:t>
            </a:r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8192770" y="425450"/>
            <a:ext cx="3663315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Cài </a:t>
            </a:r>
            <a:r>
              <a:rPr lang="en-US" altLang="en-US"/>
              <a:t>đ</a:t>
            </a:r>
            <a:r>
              <a:rPr lang="en-US" altLang="en-US"/>
              <a:t>ặt Angular và các tiện ích Angular trong VSCode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000"/>
              <a:t>C</a:t>
            </a:r>
            <a:r>
              <a:rPr lang="en-US" altLang="en-US" sz="2000"/>
              <a:t>ài </a:t>
            </a:r>
            <a:r>
              <a:rPr lang="en-US" altLang="en-US" sz="2000"/>
              <a:t>đ</a:t>
            </a:r>
            <a:r>
              <a:rPr lang="en-US" altLang="en-US" sz="2000"/>
              <a:t>ặt Node.js và npm trên máy.</a:t>
            </a:r>
            <a:endParaRPr lang="en-US" altLang="en-US" sz="2000"/>
          </a:p>
          <a:p>
            <a:r>
              <a:rPr lang="en-US" altLang="en-US" sz="2000"/>
              <a:t>Cài Angular CLI bằng lệnh: npm install -g @angular/cli@18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Tạo project:  ng new angular-demo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435225"/>
            <a:ext cx="7096125" cy="847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l="-6899" t="-1535" r="-11276" b="1535"/>
          <a:stretch>
            <a:fillRect/>
          </a:stretch>
        </p:blipFill>
        <p:spPr>
          <a:xfrm>
            <a:off x="464820" y="3943985"/>
            <a:ext cx="9582785" cy="6203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-10669" t="-3318" r="42116" b="3318"/>
          <a:stretch>
            <a:fillRect/>
          </a:stretch>
        </p:blipFill>
        <p:spPr>
          <a:xfrm>
            <a:off x="8785860" y="881380"/>
            <a:ext cx="2921635" cy="5470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Cài đặt Angular và các tiện ích Angular trong VSCode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Tiện ích Angular trong VSCode</a:t>
            </a: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0" y="2181860"/>
            <a:ext cx="4462145" cy="447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Khởi tạo project demo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65" r="14967" b="4728"/>
          <a:stretch>
            <a:fillRect/>
          </a:stretch>
        </p:blipFill>
        <p:spPr>
          <a:xfrm>
            <a:off x="609600" y="1273175"/>
            <a:ext cx="6620510" cy="4312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45" y="3205480"/>
            <a:ext cx="7136765" cy="3588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Giới thiệu về Component và cách tạo Component bằng tiện ích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1. Khái niệm Component là gì?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- Component là một class TypeScript có nhiệm vụ:</a:t>
            </a:r>
            <a:endParaRPr lang="en-US" altLang="en-US" sz="2000"/>
          </a:p>
          <a:p>
            <a:pPr marL="457200" indent="-457200"/>
            <a:r>
              <a:rPr lang="en-US" altLang="en-US" sz="2000"/>
              <a:t>Quản l</a:t>
            </a:r>
            <a:r>
              <a:rPr lang="en-US" altLang="en-US" sz="2000"/>
              <a:t>ý</a:t>
            </a:r>
            <a:r>
              <a:rPr lang="en-US" altLang="en-US" sz="2000"/>
              <a:t> giao diện ng</a:t>
            </a:r>
            <a:r>
              <a:rPr lang="en-US" altLang="en-US" sz="2000"/>
              <a:t>ư</a:t>
            </a:r>
            <a:r>
              <a:rPr lang="en-US" altLang="en-US" sz="2000"/>
              <a:t>ời dùng (UI) thông qua một template HTML.</a:t>
            </a:r>
            <a:endParaRPr lang="en-US" altLang="en-US" sz="2000"/>
          </a:p>
          <a:p>
            <a:pPr marL="457200" indent="-457200"/>
            <a:r>
              <a:rPr lang="en-US" altLang="en-US" sz="2000"/>
              <a:t>Đ</a:t>
            </a:r>
            <a:r>
              <a:rPr lang="en-US" altLang="en-US" sz="2000"/>
              <a:t>iều khiển dữ liệu và hành vi của phần UI </a:t>
            </a:r>
            <a:r>
              <a:rPr lang="en-US" altLang="en-US" sz="2000"/>
              <a:t>đ</a:t>
            </a:r>
            <a:r>
              <a:rPr lang="en-US" altLang="en-US" sz="2000"/>
              <a:t>ó.</a:t>
            </a:r>
            <a:endParaRPr lang="en-US" altLang="en-US" sz="2000"/>
          </a:p>
          <a:p>
            <a:pPr marL="457200" indent="-457200"/>
            <a:r>
              <a:rPr lang="en-US" altLang="en-US" sz="2000"/>
              <a:t>Có thể tái sử dụng ở nhiều nơi trong ứng dụng.</a:t>
            </a:r>
            <a:endParaRPr lang="en-US" altLang="en-US" sz="2000"/>
          </a:p>
          <a:p>
            <a:pPr marL="457200" indent="-457200"/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2. </a:t>
            </a:r>
            <a:r>
              <a:rPr lang="en-US" altLang="en-US" sz="2000"/>
              <a:t>Cấu trúc một Component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- Mỗi component bao gồm 3 phần chính:</a:t>
            </a:r>
            <a:endParaRPr lang="en-US" altLang="en-US" sz="2000"/>
          </a:p>
          <a:p>
            <a:pPr marL="457200" indent="-457200"/>
            <a:r>
              <a:rPr lang="en-US" altLang="en-US" sz="2000"/>
              <a:t>TypeScript (.ts): Chứa logic, dữ liệu và decorator</a:t>
            </a:r>
            <a:endParaRPr lang="en-US" altLang="en-US" sz="2000"/>
          </a:p>
          <a:p>
            <a:pPr marL="457200" indent="-457200"/>
            <a:r>
              <a:rPr lang="en-US" altLang="en-US" sz="2000"/>
              <a:t>HTML template (.html): Giao diện ng</a:t>
            </a:r>
            <a:r>
              <a:rPr lang="en-US" altLang="en-US" sz="2000"/>
              <a:t>ư</a:t>
            </a:r>
            <a:r>
              <a:rPr lang="en-US" altLang="en-US" sz="2000"/>
              <a:t>ời dùng</a:t>
            </a:r>
            <a:endParaRPr lang="en-US" altLang="en-US" sz="2000"/>
          </a:p>
          <a:p>
            <a:pPr marL="457200" indent="-457200"/>
            <a:r>
              <a:rPr lang="en-US" altLang="en-US" sz="2000"/>
              <a:t>CSS/SCSS (.css):  </a:t>
            </a:r>
            <a:r>
              <a:rPr lang="en-US" altLang="en-US" sz="2000"/>
              <a:t>Đ</a:t>
            </a:r>
            <a:r>
              <a:rPr lang="en-US" altLang="en-US" sz="2000"/>
              <a:t>ịnh dạng giao diện</a:t>
            </a:r>
            <a:r>
              <a:rPr lang="en-US" altLang="en-US" sz="2000"/>
              <a:t>       </a:t>
            </a:r>
            <a:endParaRPr lang="en-US" altLang="en-US" sz="2000"/>
          </a:p>
          <a:p>
            <a:pPr marL="457200" indent="-457200"/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70" y="4041775"/>
            <a:ext cx="4555490" cy="2007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Component và cách tạo Component bằng tiện ích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3. @Component Decorator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- Decorator @Component nói cho Angular biết class này là một component, và chứa:</a:t>
            </a:r>
            <a:endParaRPr lang="en-US" altLang="en-US" sz="2000"/>
          </a:p>
          <a:p>
            <a:r>
              <a:rPr lang="en-US" altLang="en-US" sz="2000"/>
              <a:t>selector: tên thẻ HTML </a:t>
            </a:r>
            <a:r>
              <a:rPr lang="en-US" altLang="en-US" sz="2000"/>
              <a:t>đ</a:t>
            </a:r>
            <a:r>
              <a:rPr lang="en-US" altLang="en-US" sz="2000"/>
              <a:t>ể nhúng component.</a:t>
            </a:r>
            <a:endParaRPr lang="en-US" altLang="en-US" sz="2000"/>
          </a:p>
          <a:p>
            <a:r>
              <a:rPr lang="en-US" altLang="en-US" sz="2000"/>
              <a:t>template hoặc templateUrl: </a:t>
            </a:r>
            <a:r>
              <a:rPr lang="en-US" altLang="en-US" sz="2000"/>
              <a:t>đ</a:t>
            </a:r>
            <a:r>
              <a:rPr lang="en-US" altLang="en-US" sz="2000"/>
              <a:t>ịnh ngh</a:t>
            </a:r>
            <a:r>
              <a:rPr lang="en-US" altLang="en-US" sz="2000"/>
              <a:t>ĩ</a:t>
            </a:r>
            <a:r>
              <a:rPr lang="en-US" altLang="en-US" sz="2000"/>
              <a:t>a giao diện.</a:t>
            </a:r>
            <a:endParaRPr lang="en-US" altLang="en-US" sz="2000"/>
          </a:p>
          <a:p>
            <a:r>
              <a:rPr lang="en-US" altLang="en-US" sz="2000"/>
              <a:t>styleUrls hoặc styles: </a:t>
            </a:r>
            <a:r>
              <a:rPr lang="en-US" altLang="en-US" sz="2000"/>
              <a:t>đ</a:t>
            </a:r>
            <a:r>
              <a:rPr lang="en-US" altLang="en-US" sz="2000"/>
              <a:t>ịnh ngh</a:t>
            </a:r>
            <a:r>
              <a:rPr lang="en-US" altLang="en-US" sz="2000"/>
              <a:t>ĩ</a:t>
            </a:r>
            <a:r>
              <a:rPr lang="en-US" altLang="en-US" sz="2000"/>
              <a:t>a CSS.</a:t>
            </a:r>
            <a:endParaRPr lang="en-US" altLang="en-US" sz="2000"/>
          </a:p>
          <a:p>
            <a:r>
              <a:rPr lang="en-US" altLang="en-US" sz="2000"/>
              <a:t>standalone: component có thể tự hoạt </a:t>
            </a:r>
            <a:r>
              <a:rPr lang="en-US" altLang="en-US" sz="2000"/>
              <a:t>đ</a:t>
            </a:r>
            <a:r>
              <a:rPr lang="en-US" altLang="en-US" sz="2000"/>
              <a:t>ộng </a:t>
            </a:r>
            <a:r>
              <a:rPr lang="en-US" altLang="en-US" sz="2000"/>
              <a:t>đ</a:t>
            </a:r>
            <a:r>
              <a:rPr lang="en-US" altLang="en-US" sz="2000"/>
              <a:t>ộc lập, không cần khai báo trong NgModule (giới thiệu silde sau)</a:t>
            </a:r>
            <a:endParaRPr lang="en-US" altLang="en-US" sz="2000"/>
          </a:p>
          <a:p>
            <a:r>
              <a:rPr lang="en-US" altLang="en-US" sz="2000"/>
              <a:t>imports: khai báo module cần thiết</a:t>
            </a: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0" y="3919220"/>
            <a:ext cx="454152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Component và cách tạo Component bằng tiện ích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4. Cách tạo component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- Tạo bằng command</a:t>
            </a:r>
            <a:endParaRPr lang="en-US" altLang="en-US" sz="2000"/>
          </a:p>
          <a:p>
            <a:pPr marL="457200" lvl="1" indent="0">
              <a:buNone/>
            </a:pPr>
            <a:r>
              <a:rPr lang="en-US" altLang="en-US" sz="1750"/>
              <a:t>ng generate component tên-component</a:t>
            </a:r>
            <a:endParaRPr lang="en-US" altLang="en-US" sz="1750"/>
          </a:p>
          <a:p>
            <a:pPr marL="457200" lvl="1" indent="0">
              <a:buNone/>
            </a:pPr>
            <a:r>
              <a:rPr lang="en-US" altLang="en-US" sz="1750"/>
              <a:t># hoặc viết tắt:</a:t>
            </a:r>
            <a:endParaRPr lang="en-US" altLang="en-US" sz="1750"/>
          </a:p>
          <a:p>
            <a:pPr marL="457200" lvl="1" indent="0">
              <a:buNone/>
            </a:pPr>
            <a:r>
              <a:rPr lang="en-US" altLang="en-US" sz="1750"/>
              <a:t>ng g c tên-component</a:t>
            </a:r>
            <a:endParaRPr lang="en-US" altLang="en-US" sz="1750"/>
          </a:p>
          <a:p>
            <a:pPr marL="457200" lvl="1" indent="0">
              <a:buNone/>
            </a:pPr>
            <a:endParaRPr lang="en-US" altLang="en-US" sz="1750"/>
          </a:p>
          <a:p>
            <a:pPr marL="0" lvl="0" indent="0">
              <a:buNone/>
            </a:pPr>
            <a:r>
              <a:rPr lang="en-US" altLang="en-US" sz="1750"/>
              <a:t>- Tạo bằng tiện ích</a:t>
            </a:r>
            <a:endParaRPr lang="en-US" altLang="en-US" sz="17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6385" y="1709420"/>
            <a:ext cx="6553200" cy="1028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540" y="3029585"/>
            <a:ext cx="2979420" cy="3736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Component và cách tạo Component bằng tiện ích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5. Cách sử dụng component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- sử dụng component thông qua selector và khai báo thông qua imports</a:t>
            </a:r>
            <a:br>
              <a:rPr lang="en-US" altLang="en-US" sz="2000"/>
            </a:br>
            <a:r>
              <a:rPr lang="en-US" altLang="en-US" sz="2000"/>
              <a:t>- ví dụ </a:t>
            </a:r>
            <a:r>
              <a:rPr lang="en-US" altLang="en-US" sz="2000">
                <a:solidFill>
                  <a:schemeClr val="tx2"/>
                </a:solidFill>
              </a:rPr>
              <a:t>home.component.ts</a:t>
            </a:r>
            <a:r>
              <a:rPr lang="en-US" altLang="en-US" sz="2000"/>
              <a:t> có </a:t>
            </a:r>
            <a:r>
              <a:rPr lang="en-US" altLang="en-US" sz="2000">
                <a:solidFill>
                  <a:schemeClr val="tx2"/>
                </a:solidFill>
              </a:rPr>
              <a:t>selector: 'app-home'</a:t>
            </a:r>
            <a:endParaRPr lang="en-US" altLang="en-US" sz="20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en-US" sz="2000"/>
              <a:t>- cách sử dụng trong component app</a:t>
            </a:r>
            <a:br>
              <a:rPr lang="en-US" altLang="en-US" sz="2000"/>
            </a:b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3110865"/>
            <a:ext cx="5210175" cy="1504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0" y="3168650"/>
            <a:ext cx="3819525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Component và cách tạo Component bằng tiện ích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- </a:t>
            </a:r>
            <a:r>
              <a:rPr lang="en-US" altLang="en-US" sz="2000"/>
              <a:t>@Input() Cho phép component cha truyền dữ liệu xuống component con thông qua thuộc tính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+ Cách truyền từ cha tới con -&gt; sử dụng thông qua []: property binding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+ Cách component con nhận giá trị từ cha: @Input()</a:t>
            </a:r>
            <a:endParaRPr lang="en-US" altLang="en-US" sz="2000"/>
          </a:p>
          <a:p>
            <a:pPr marL="3657600" lvl="8" indent="457200">
              <a:buNone/>
            </a:pPr>
            <a:r>
              <a:rPr lang="en-US" altLang="en-US" sz="2000"/>
              <a:t>title: tên biến</a:t>
            </a:r>
            <a:endParaRPr lang="en-US" altLang="en-US" sz="2000"/>
          </a:p>
          <a:p>
            <a:pPr marL="3657600" lvl="8" indent="457200">
              <a:buNone/>
            </a:pPr>
            <a:r>
              <a:rPr lang="en-US" altLang="en-US" sz="2000"/>
              <a:t>string: kiểu dữ liệu</a:t>
            </a:r>
            <a:endParaRPr lang="en-US" altLang="en-US" sz="2000"/>
          </a:p>
          <a:p>
            <a:pPr marL="3657600" lvl="8" indent="457200">
              <a:buNone/>
            </a:pPr>
            <a:r>
              <a:rPr lang="en-US" altLang="en-US" sz="2000"/>
              <a:t>“” : giá trị khởi tạo mặc định </a:t>
            </a:r>
            <a:endParaRPr lang="en-US" altLang="en-US" sz="2000"/>
          </a:p>
          <a:p>
            <a:pPr marL="3657600" lvl="8" indent="457200">
              <a:buNone/>
            </a:pPr>
            <a:r>
              <a:rPr lang="en-US" altLang="en-US" sz="2000"/>
              <a:t> 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95" y="4615815"/>
            <a:ext cx="3390900" cy="98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2522855"/>
            <a:ext cx="43434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Component và cách tạo Component bằng tiện ích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-</a:t>
            </a:r>
            <a:r>
              <a:rPr lang="en-US" altLang="en-US" sz="2000"/>
              <a:t>@Output(): Dùng khi component con muốn thông báo sự kiện hoặc dữ liệu lên cha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 + Cách nhận dữ liệu từ component con -&gt; sử dụng thông qua (): </a:t>
            </a:r>
            <a:r>
              <a:rPr lang="en-US" altLang="en-US" sz="2000"/>
              <a:t>EventEmitter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 + Cách component con thông báo tới cha: @Output()</a:t>
            </a:r>
            <a:endParaRPr lang="en-US" altLang="en-US" sz="2000"/>
          </a:p>
          <a:p>
            <a:pPr marL="3657600" lvl="8" indent="457200">
              <a:buNone/>
            </a:pPr>
            <a:r>
              <a:rPr lang="en-US" altLang="en-US" sz="2000">
                <a:sym typeface="+mn-ea"/>
              </a:rPr>
              <a:t>title: tên biến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90" y="4521835"/>
            <a:ext cx="5486400" cy="1285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0" y="2376170"/>
            <a:ext cx="74580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" y="3082925"/>
            <a:ext cx="405765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Component và cách tạo Component bằng tiện ích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- </a:t>
            </a:r>
            <a:r>
              <a:rPr lang="en-US" altLang="en-US" sz="2000"/>
              <a:t>@ViewChild(): </a:t>
            </a:r>
            <a:r>
              <a:rPr lang="en-US" altLang="en-US" sz="2000"/>
              <a:t> </a:t>
            </a:r>
            <a:r>
              <a:rPr lang="en-US" altLang="en-US" sz="2000">
                <a:sym typeface="+mn-ea"/>
              </a:rPr>
              <a:t>Nếu bạn muốn component cha gọi hàm hoặc truy cập biến trong con</a:t>
            </a:r>
            <a:r>
              <a:rPr lang="en-US" altLang="en-US" sz="2000">
                <a:sym typeface="+mn-ea"/>
              </a:rPr>
              <a:t> </a:t>
            </a:r>
            <a:endParaRPr lang="en-US" altLang="en-US" sz="2000">
              <a:sym typeface="+mn-ea"/>
            </a:endParaRPr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+ </a:t>
            </a:r>
            <a:r>
              <a:rPr lang="en-US" altLang="en-US" sz="2000"/>
              <a:t>cách dùng: 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endParaRPr lang="en-US" altLang="en-US" sz="20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630" y="2409825"/>
            <a:ext cx="4933950" cy="571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3145155"/>
            <a:ext cx="3382010" cy="2613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15" y="3256280"/>
            <a:ext cx="4810125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Cách bind dữ liệu trong Angular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- </a:t>
            </a:r>
            <a:r>
              <a:rPr lang="en-US" altLang="en-US" sz="2000"/>
              <a:t>Data Binding là cơ chế giúp liên kết dữ liệu giữa component và view</a:t>
            </a:r>
            <a:endParaRPr lang="en-US" altLang="en-US" sz="2000"/>
          </a:p>
          <a:p>
            <a:r>
              <a:rPr lang="en-US" altLang="en-US" sz="2000"/>
              <a:t>Interpolation – Nội suy: Dùng dấu ngoặc nhọn {{ }} </a:t>
            </a:r>
            <a:r>
              <a:rPr lang="en-US" altLang="en-US" sz="2000"/>
              <a:t>đ</a:t>
            </a:r>
            <a:r>
              <a:rPr lang="en-US" altLang="en-US" sz="2000"/>
              <a:t>ể hiển thị giá trị hoặc biểu thức.</a:t>
            </a:r>
            <a:endParaRPr lang="en-US" altLang="en-US" sz="2000"/>
          </a:p>
          <a:p>
            <a:r>
              <a:rPr lang="en-US" altLang="en-US" sz="2000"/>
              <a:t>Property Binding: Dùng </a:t>
            </a:r>
            <a:r>
              <a:rPr lang="en-US" altLang="en-US" sz="2000"/>
              <a:t>đ</a:t>
            </a:r>
            <a:r>
              <a:rPr lang="en-US" altLang="en-US" sz="2000"/>
              <a:t>ể ràng buộc thuộc tính HTML hoặc thuộc tính của component con.</a:t>
            </a:r>
            <a:endParaRPr lang="en-US" altLang="en-US" sz="2000"/>
          </a:p>
          <a:p>
            <a:r>
              <a:rPr lang="en-US" altLang="en-US" sz="2000"/>
              <a:t>Event Binding: Dùng dấu ngoặc tròn ( ) </a:t>
            </a:r>
            <a:r>
              <a:rPr lang="en-US" altLang="en-US" sz="2000"/>
              <a:t>đ</a:t>
            </a:r>
            <a:r>
              <a:rPr lang="en-US" altLang="en-US" sz="2000"/>
              <a:t>ể bắt sự kiện từ HTML</a:t>
            </a:r>
            <a:endParaRPr lang="en-US" altLang="en-US" sz="2000"/>
          </a:p>
          <a:p>
            <a:r>
              <a:rPr lang="en-US" altLang="en-US" sz="2000"/>
              <a:t>Two-Way Binding ([(ngModel)]): Dùng </a:t>
            </a:r>
            <a:r>
              <a:rPr lang="en-US" altLang="en-US" sz="2000"/>
              <a:t>đ</a:t>
            </a:r>
            <a:r>
              <a:rPr lang="en-US" altLang="en-US" sz="2000"/>
              <a:t>ể ràng buộc 2 chiều giữa dữ liệu component và input ng</a:t>
            </a:r>
            <a:r>
              <a:rPr lang="en-US" altLang="en-US" sz="2000"/>
              <a:t>ư</a:t>
            </a:r>
            <a:r>
              <a:rPr lang="en-US" altLang="en-US" sz="2000"/>
              <a:t>ời dùng. (cần imports FormsModule)</a:t>
            </a: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461385"/>
            <a:ext cx="5638800" cy="3162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95" y="4102100"/>
            <a:ext cx="5060950" cy="21437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790065" y="6051550"/>
            <a:ext cx="2874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i="1"/>
              <a:t>home.component.ts</a:t>
            </a:r>
            <a:endParaRPr lang="en-US" altLang="en-US" i="1"/>
          </a:p>
        </p:txBody>
      </p:sp>
      <p:sp>
        <p:nvSpPr>
          <p:cNvPr id="7" name="Text Box 6"/>
          <p:cNvSpPr txBox="1"/>
          <p:nvPr/>
        </p:nvSpPr>
        <p:spPr>
          <a:xfrm>
            <a:off x="7388225" y="6419850"/>
            <a:ext cx="3413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i="1"/>
              <a:t>home.component.html</a:t>
            </a:r>
            <a:endParaRPr lang="en-US" altLang="en-US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Giới thiệu về các directive th</a:t>
            </a:r>
            <a:r>
              <a:rPr lang="en-US" altLang="en-US"/>
              <a:t>ư</a:t>
            </a:r>
            <a:r>
              <a:rPr lang="en-US" altLang="en-US"/>
              <a:t>ờng gặp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1. Directive là gì?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Directive trong Angular là các chỉ thị dùng </a:t>
            </a:r>
            <a:r>
              <a:rPr lang="" altLang="en-US" sz="2000"/>
              <a:t>đ</a:t>
            </a:r>
            <a:r>
              <a:rPr lang="en-US" altLang="en-US" sz="2000"/>
              <a:t>ể:</a:t>
            </a:r>
            <a:endParaRPr lang="en-US" altLang="en-US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/>
              <a:t>Thêm hoặc loại bỏ phần tử trong DOM</a:t>
            </a:r>
            <a:endParaRPr lang="en-US" altLang="en-US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/>
              <a:t>Thay </a:t>
            </a:r>
            <a:r>
              <a:rPr lang="" altLang="en-US" sz="2000"/>
              <a:t>đ</a:t>
            </a:r>
            <a:r>
              <a:rPr lang="en-US" altLang="en-US" sz="2000"/>
              <a:t>ổi thuộc tính, style, class của phần tử</a:t>
            </a:r>
            <a:endParaRPr lang="en-US" altLang="en-US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/>
              <a:t>Hoặc gắn logic </a:t>
            </a:r>
            <a:r>
              <a:rPr lang="" altLang="en-US" sz="2000"/>
              <a:t>đ</a:t>
            </a:r>
            <a:r>
              <a:rPr lang="en-US" altLang="en-US" sz="2000"/>
              <a:t>ộng vào các phần tử HTML</a:t>
            </a:r>
            <a:endParaRPr lang="en-US" altLang="en-US" sz="200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altLang="en-US" sz="2000"/>
              <a:t>2. Phân loại Directive	</a:t>
            </a:r>
            <a:endParaRPr lang="en-US" altLang="en-US" sz="2000"/>
          </a:p>
        </p:txBody>
      </p:sp>
      <p:graphicFrame>
        <p:nvGraphicFramePr>
          <p:cNvPr id="4" name="Table 3"/>
          <p:cNvGraphicFramePr/>
          <p:nvPr/>
        </p:nvGraphicFramePr>
        <p:xfrm>
          <a:off x="953770" y="403669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Loại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Mô tả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Ví dụ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Component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Là directive có template (chính là các component bạn tạo)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@Component({...})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Structural Directive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Thay </a:t>
                      </a:r>
                      <a:r>
                        <a:rPr lang="" altLang="en-US"/>
                        <a:t>đ</a:t>
                      </a:r>
                      <a:r>
                        <a:rPr lang="en-US" altLang="en-US"/>
                        <a:t>ổi cấu trúc DOM (thêm/xoá phần tử)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*ngIf, *ngFor, *ngSwitchCase, ....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Attribute Directive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Thay </a:t>
                      </a:r>
                      <a:r>
                        <a:rPr lang="" altLang="en-US"/>
                        <a:t>đ</a:t>
                      </a:r>
                      <a:r>
                        <a:rPr lang="en-US" altLang="en-US"/>
                        <a:t>ổi hành vi hoặc giao diện phần tử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ngClass, ngStyle, ngModel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các directive thường gặp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3. Giới thiệu về </a:t>
            </a:r>
            <a:r>
              <a:rPr lang="en-US" altLang="en-US" sz="2000"/>
              <a:t>Structural Directive</a:t>
            </a:r>
            <a:endParaRPr lang="en-US" altLang="en-US" sz="2000"/>
          </a:p>
          <a:p>
            <a:pPr lvl="1"/>
            <a:r>
              <a:rPr lang="en-US" altLang="en-US" sz="1750"/>
              <a:t>*ngIf: Dùng </a:t>
            </a:r>
            <a:r>
              <a:rPr lang="" altLang="en-US" sz="1750"/>
              <a:t>đ</a:t>
            </a:r>
            <a:r>
              <a:rPr lang="en-US" altLang="en-US" sz="1750"/>
              <a:t>ể ẩn/hiện phần tử theo </a:t>
            </a:r>
            <a:r>
              <a:rPr lang="" altLang="en-US" sz="1750"/>
              <a:t>đ</a:t>
            </a:r>
            <a:r>
              <a:rPr lang="en-US" altLang="en-US" sz="1750"/>
              <a:t>iều kiện.</a:t>
            </a:r>
            <a:endParaRPr lang="en-US" altLang="en-US" sz="1750"/>
          </a:p>
          <a:p>
            <a:pPr lvl="1"/>
            <a:r>
              <a:rPr lang="en-US" altLang="en-US" sz="1750"/>
              <a:t>*ngFor: Dùng </a:t>
            </a:r>
            <a:r>
              <a:rPr lang="" altLang="en-US" sz="1750"/>
              <a:t>đ</a:t>
            </a:r>
            <a:r>
              <a:rPr lang="en-US" altLang="en-US" sz="1750"/>
              <a:t>ể lặp qua một danh sách.</a:t>
            </a:r>
            <a:endParaRPr lang="en-US" altLang="en-US" sz="1750"/>
          </a:p>
          <a:p>
            <a:pPr lvl="1"/>
            <a:r>
              <a:rPr lang="en-US" altLang="en-US" sz="1750"/>
              <a:t>*ngSwitch, *ngSwitchCase, *ngSwitchDefault: Dùng </a:t>
            </a:r>
            <a:r>
              <a:rPr lang="" altLang="en-US" sz="1750"/>
              <a:t>đ</a:t>
            </a:r>
            <a:r>
              <a:rPr lang="en-US" altLang="en-US" sz="1750"/>
              <a:t>ể hiển thị phần tử phù hợp theo giá trị</a:t>
            </a:r>
            <a:endParaRPr lang="en-US" altLang="en-US" sz="1750"/>
          </a:p>
          <a:p>
            <a:pPr marL="0" lvl="0" indent="0">
              <a:buNone/>
            </a:pPr>
            <a:r>
              <a:rPr lang="en-US" altLang="en-US" sz="2000"/>
              <a:t>Chú ý: import CommonModule trước khi sử dụng </a:t>
            </a:r>
            <a:endParaRPr lang="en-US" altLang="en-US" sz="2000"/>
          </a:p>
          <a:p>
            <a:pPr marL="0" lvl="0" indent="0">
              <a:buNone/>
            </a:pP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75" y="3595370"/>
            <a:ext cx="5781675" cy="129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055" y="3054350"/>
            <a:ext cx="4749165" cy="36753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021840" y="4707890"/>
            <a:ext cx="2874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i="1"/>
              <a:t>home.component.ts</a:t>
            </a:r>
            <a:endParaRPr lang="en-US" altLang="en-US" i="1"/>
          </a:p>
        </p:txBody>
      </p:sp>
      <p:sp>
        <p:nvSpPr>
          <p:cNvPr id="8" name="Text Box 7"/>
          <p:cNvSpPr txBox="1"/>
          <p:nvPr/>
        </p:nvSpPr>
        <p:spPr>
          <a:xfrm>
            <a:off x="7893685" y="6489700"/>
            <a:ext cx="3413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i="1"/>
              <a:t>home.component.html</a:t>
            </a:r>
            <a:endParaRPr lang="en-US" altLang="en-US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các directive thường gặp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000"/>
              <a:t>4. Giới thiệu về </a:t>
            </a:r>
            <a:r>
              <a:rPr lang="en-US" altLang="en-US" sz="2000">
                <a:sym typeface="+mn-ea"/>
              </a:rPr>
              <a:t>Attribute Directive</a:t>
            </a:r>
            <a:endParaRPr lang="en-US" altLang="en-US" sz="2000">
              <a:sym typeface="+mn-ea"/>
            </a:endParaRPr>
          </a:p>
          <a:p>
            <a:pPr lvl="1"/>
            <a:r>
              <a:rPr lang="en-US" altLang="en-US" sz="2000">
                <a:sym typeface="+mn-ea"/>
              </a:rPr>
              <a:t>ngClass</a:t>
            </a:r>
            <a:r>
              <a:rPr lang="en-US" altLang="en-US" sz="1750">
                <a:sym typeface="+mn-ea"/>
              </a:rPr>
              <a:t>: </a:t>
            </a:r>
            <a:r>
              <a:rPr lang="en-US" altLang="en-US" sz="2000"/>
              <a:t>Dùng </a:t>
            </a:r>
            <a:r>
              <a:rPr lang="" altLang="en-US" sz="2000"/>
              <a:t>đ</a:t>
            </a:r>
            <a:r>
              <a:rPr lang="en-US" altLang="en-US" sz="2000"/>
              <a:t>ể thay </a:t>
            </a:r>
            <a:r>
              <a:rPr lang="" altLang="en-US" sz="2000"/>
              <a:t>đ</a:t>
            </a:r>
            <a:r>
              <a:rPr lang="en-US" altLang="en-US" sz="2000"/>
              <a:t>ổi class CSS </a:t>
            </a:r>
            <a:r>
              <a:rPr lang="" altLang="en-US" sz="2000"/>
              <a:t>đ</a:t>
            </a:r>
            <a:r>
              <a:rPr lang="en-US" altLang="en-US" sz="2000"/>
              <a:t>ộng theo </a:t>
            </a:r>
            <a:r>
              <a:rPr lang="" altLang="en-US" sz="2000"/>
              <a:t>đ</a:t>
            </a:r>
            <a:r>
              <a:rPr lang="en-US" altLang="en-US" sz="2000"/>
              <a:t>iều kiện.</a:t>
            </a:r>
            <a:endParaRPr lang="en-US" altLang="en-US" sz="2000"/>
          </a:p>
          <a:p>
            <a:pPr lvl="1"/>
            <a:r>
              <a:rPr lang="en-US" altLang="en-US" sz="2000"/>
              <a:t>ngStyle: Dùng </a:t>
            </a:r>
            <a:r>
              <a:rPr lang="" altLang="en-US" sz="2000"/>
              <a:t>đ</a:t>
            </a:r>
            <a:r>
              <a:rPr lang="en-US" altLang="en-US" sz="2000"/>
              <a:t>ể thay </a:t>
            </a:r>
            <a:r>
              <a:rPr lang="" altLang="en-US" sz="2000"/>
              <a:t>đ</a:t>
            </a:r>
            <a:r>
              <a:rPr lang="en-US" altLang="en-US" sz="2000"/>
              <a:t>ổi inline style </a:t>
            </a:r>
            <a:r>
              <a:rPr lang="" altLang="en-US" sz="2000"/>
              <a:t>đ</a:t>
            </a:r>
            <a:r>
              <a:rPr lang="en-US" altLang="en-US" sz="2000"/>
              <a:t>ộng.</a:t>
            </a:r>
            <a:endParaRPr lang="en-US" altLang="en-US" sz="2000"/>
          </a:p>
          <a:p>
            <a:pPr lvl="1"/>
            <a:r>
              <a:rPr lang="en-US" altLang="en-US" sz="2000"/>
              <a:t>[(ngModel)]: Là directive của FormsModule, giúp ràng buộc 2 chiều dữ liệu</a:t>
            </a: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3357880"/>
            <a:ext cx="7096125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Giới thiệu về ng-template và ng-container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1. ng-template là gì?</a:t>
            </a:r>
            <a:endParaRPr lang="en-US" altLang="en-US" sz="2000"/>
          </a:p>
          <a:p>
            <a:r>
              <a:rPr lang="en-US" altLang="en-US" sz="2000"/>
              <a:t>ng-template là một template ẩn trong Angular.</a:t>
            </a:r>
            <a:endParaRPr lang="en-US" altLang="en-US" sz="2000"/>
          </a:p>
          <a:p>
            <a:r>
              <a:rPr lang="en-US" altLang="en-US" sz="2000"/>
              <a:t>Mọi nội dung bên trong &lt;ng-template&gt; sẽ không </a:t>
            </a:r>
            <a:r>
              <a:rPr lang="" altLang="en-US" sz="2000"/>
              <a:t>đư</a:t>
            </a:r>
            <a:r>
              <a:rPr lang="en-US" altLang="en-US" sz="2000"/>
              <a:t>ợc render ra DOM trừ khi Angular </a:t>
            </a:r>
            <a:r>
              <a:rPr lang="" altLang="en-US" sz="2000"/>
              <a:t>đư</a:t>
            </a:r>
            <a:r>
              <a:rPr lang="en-US" altLang="en-US" sz="2000"/>
              <a:t>ợc yêu cầu hiển thị nó (qua *ngIf, ngTemplateOutlet, v.v).</a:t>
            </a:r>
            <a:endParaRPr lang="en-US" altLang="en-US" sz="2000"/>
          </a:p>
          <a:p>
            <a:r>
              <a:rPr lang="en-US" altLang="en-US" sz="2000"/>
              <a:t>Có thẻ sử dụng với ngTemplateOutlet</a:t>
            </a:r>
            <a:endParaRPr lang="en-US" altLang="en-US" sz="2000"/>
          </a:p>
          <a:p>
            <a:endParaRPr lang="en-US" altLang="en-US" sz="2000"/>
          </a:p>
          <a:p>
            <a:r>
              <a:rPr lang="en-US" sz="2000">
                <a:sym typeface="+mn-ea"/>
              </a:rPr>
              <a:t>Có thể </a:t>
            </a:r>
            <a:r>
              <a:rPr lang="en-US" altLang="en-US" sz="2000">
                <a:sym typeface="+mn-ea"/>
              </a:rPr>
              <a:t>truyền context vào ng-template</a:t>
            </a:r>
            <a:endParaRPr lang="en-US" altLang="en-US" sz="2000"/>
          </a:p>
          <a:p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1060" y="2727325"/>
            <a:ext cx="4533900" cy="2019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695" y="4943475"/>
            <a:ext cx="4370705" cy="17633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15" y="4293870"/>
            <a:ext cx="455295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Giới thiệu về ng-template và ng-container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2. ng-container là gì?</a:t>
            </a:r>
            <a:endParaRPr lang="en-US" altLang="en-US" sz="2000"/>
          </a:p>
          <a:p>
            <a:r>
              <a:rPr lang="en-US" altLang="en-US" sz="2000"/>
              <a:t>ng-container là một container logic, giúp nhóm nhiều phần tử lại mà không tạo thẻ thật trong DOM.</a:t>
            </a:r>
            <a:endParaRPr lang="en-US" altLang="en-US" sz="2000"/>
          </a:p>
          <a:p>
            <a:r>
              <a:rPr lang="en-US" altLang="en-US" sz="2000"/>
              <a:t>Khi Angular biên dịch, ng-container sẽ không xuất hiện trong HTML, chỉ các phần tử con </a:t>
            </a:r>
            <a:r>
              <a:rPr lang="" altLang="en-US" sz="2000"/>
              <a:t>đư</a:t>
            </a:r>
            <a:r>
              <a:rPr lang="en-US" altLang="en-US" sz="2000"/>
              <a:t>ợc render.</a:t>
            </a:r>
            <a:endParaRPr lang="en-US" altLang="en-US" sz="2000"/>
          </a:p>
          <a:p>
            <a:r>
              <a:rPr lang="en-US" altLang="en-US" sz="2000"/>
              <a:t>bọc logic hiển thị phức tạp</a:t>
            </a:r>
            <a:endParaRPr lang="en-US" altLang="en-US" sz="2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4282440"/>
            <a:ext cx="3619500" cy="2324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105" y="4282440"/>
            <a:ext cx="5095875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DEMO</a:t>
            </a: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001645" y="1417955"/>
            <a:ext cx="7280275" cy="5249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5067</Words>
  <Application>WPS Presentation</Application>
  <PresentationFormat>Widescreen</PresentationFormat>
  <Paragraphs>191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Arial Unicode MS</vt:lpstr>
      <vt:lpstr>Calibri</vt:lpstr>
      <vt:lpstr>Art_mountaineering</vt:lpstr>
      <vt:lpstr>ANGULAR TRAINING</vt:lpstr>
      <vt:lpstr>Giới thiệu Angular</vt:lpstr>
      <vt:lpstr>Cài đặt Angular và các tiện ích Angular trong VSCode</vt:lpstr>
      <vt:lpstr>Cài đặt Angular và các tiện ích Angular trong VSCode</vt:lpstr>
      <vt:lpstr>Khởi tạo project demo</vt:lpstr>
      <vt:lpstr>Giới thiệu về Component và cách tạo Component bằng tiện ích</vt:lpstr>
      <vt:lpstr>Giới thiệu về Component và cách tạo Component bằng tiện ích</vt:lpstr>
      <vt:lpstr>Giới thiệu về Component và cách tạo Component bằng tiện ích</vt:lpstr>
      <vt:lpstr>Giới thiệu về Component và cách tạo Component bằng tiện ích</vt:lpstr>
      <vt:lpstr>Giới thiệu về Component và cách tạo Component bằng tiện ích</vt:lpstr>
      <vt:lpstr>Giới thiệu về Component và cách tạo Component bằng tiện ích</vt:lpstr>
      <vt:lpstr>Giới thiệu về Component và cách tạo Component bằng tiện ích</vt:lpstr>
      <vt:lpstr>Cách bind dữ liệu trong Angular</vt:lpstr>
      <vt:lpstr>Giới thiệu về các directive thường gặp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safw csd</cp:lastModifiedBy>
  <cp:revision>4</cp:revision>
  <dcterms:created xsi:type="dcterms:W3CDTF">2025-07-23T00:59:00Z</dcterms:created>
  <dcterms:modified xsi:type="dcterms:W3CDTF">2025-11-04T10:33:42Z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E38F07B8F56C4B9DBF1290AF284EFD6A_11</vt:lpwstr>
  </property>
  <property fmtid="{D5CDD505-2E9C-101B-9397-08002B2CF9AE}" pid="3" name="KSOProductBuildVer">
    <vt:lpwstr>1033-12.2.0.23131</vt:lpwstr>
  </property>
</Properties>
</file>